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9B6E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bubble3D val="0"/>
            <c:spPr>
              <a:solidFill>
                <a:srgbClr val="D944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Warning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155</c:v>
                </c:pt>
                <c:pt idx="1">
                  <c:v>223</c:v>
                </c:pt>
                <c:pt idx="2">
                  <c:v>122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E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D9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Age</c:v>
                  </c:pt>
                  <c:pt idx="1">
                    <c:v>Oil °C</c:v>
                  </c:pt>
                  <c:pt idx="2">
                    <c:v>Wind °C</c:v>
                  </c:pt>
                  <c:pt idx="3">
                    <c:v>Load %</c:v>
                  </c:pt>
                  <c:pt idx="4">
                    <c:v>Moist</c:v>
                  </c:pt>
                  <c:pt idx="5">
                    <c:v>Gas</c:v>
                  </c:pt>
                  <c:pt idx="6">
                    <c:v>Vib</c:v>
                  </c:pt>
                  <c:pt idx="7">
                    <c:v>PD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8.3</c:v>
                </c:pt>
                <c:pt idx="1">
                  <c:v>68.1</c:v>
                </c:pt>
                <c:pt idx="2">
                  <c:v>77.8</c:v>
                </c:pt>
                <c:pt idx="3">
                  <c:v>51.6</c:v>
                </c:pt>
                <c:pt idx="4">
                  <c:v>15.4</c:v>
                </c:pt>
                <c:pt idx="5">
                  <c:v>22.3</c:v>
                </c:pt>
                <c:pt idx="6">
                  <c:v>2.39</c:v>
                </c:pt>
                <c:pt idx="7">
                  <c:v>33.5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Age</c:v>
                  </c:pt>
                  <c:pt idx="1">
                    <c:v>Oil °C</c:v>
                  </c:pt>
                  <c:pt idx="2">
                    <c:v>Wind °C</c:v>
                  </c:pt>
                  <c:pt idx="3">
                    <c:v>Load %</c:v>
                  </c:pt>
                  <c:pt idx="4">
                    <c:v>Moist</c:v>
                  </c:pt>
                  <c:pt idx="5">
                    <c:v>Gas</c:v>
                  </c:pt>
                  <c:pt idx="6">
                    <c:v>Vib</c:v>
                  </c:pt>
                  <c:pt idx="7">
                    <c:v>PD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</c:v>
                </c:pt>
                <c:pt idx="1">
                  <c:v>79.3</c:v>
                </c:pt>
                <c:pt idx="2">
                  <c:v>89.4</c:v>
                </c:pt>
                <c:pt idx="3">
                  <c:v>73.4</c:v>
                </c:pt>
                <c:pt idx="4">
                  <c:v>20.5</c:v>
                </c:pt>
                <c:pt idx="5">
                  <c:v>32.5</c:v>
                </c:pt>
                <c:pt idx="6">
                  <c:v>3.19</c:v>
                </c:pt>
                <c:pt idx="7">
                  <c:v>51.8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D94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Age</c:v>
                  </c:pt>
                  <c:pt idx="1">
                    <c:v>Oil °C</c:v>
                  </c:pt>
                  <c:pt idx="2">
                    <c:v>Wind °C</c:v>
                  </c:pt>
                  <c:pt idx="3">
                    <c:v>Load %</c:v>
                  </c:pt>
                  <c:pt idx="4">
                    <c:v>Moist</c:v>
                  </c:pt>
                  <c:pt idx="5">
                    <c:v>Gas</c:v>
                  </c:pt>
                  <c:pt idx="6">
                    <c:v>Vib</c:v>
                  </c:pt>
                  <c:pt idx="7">
                    <c:v>PD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25.4</c:v>
                </c:pt>
                <c:pt idx="1">
                  <c:v>84.1</c:v>
                </c:pt>
                <c:pt idx="2">
                  <c:v>93.6</c:v>
                </c:pt>
                <c:pt idx="3">
                  <c:v>75.7</c:v>
                </c:pt>
                <c:pt idx="4">
                  <c:v>29.6</c:v>
                </c:pt>
                <c:pt idx="5">
                  <c:v>44.6</c:v>
                </c:pt>
                <c:pt idx="6">
                  <c:v>4.2</c:v>
                </c:pt>
                <c:pt idx="7">
                  <c:v>75.7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E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D9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Oil</c:v>
                  </c:pt>
                  <c:pt idx="1">
                    <c:v>Winding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68.1</c:v>
                </c:pt>
                <c:pt idx="1">
                  <c:v>77.8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Oil</c:v>
                  </c:pt>
                  <c:pt idx="1">
                    <c:v>Winding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79.3</c:v>
                </c:pt>
                <c:pt idx="1">
                  <c:v>89.4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D94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Oil</c:v>
                  </c:pt>
                  <c:pt idx="1">
                    <c:v>Winding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84.1</c:v>
                </c:pt>
                <c:pt idx="1">
                  <c:v>93.6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D9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Moisture</c:v>
                  </c:pt>
                  <c:pt idx="1">
                    <c:v>Gas/10</c:v>
                  </c:pt>
                  <c:pt idx="2">
                    <c:v>PD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</c:v>
                </c:pt>
                <c:pt idx="1">
                  <c:v>22.3</c:v>
                </c:pt>
                <c:pt idx="2">
                  <c:v>33.5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Moisture</c:v>
                  </c:pt>
                  <c:pt idx="1">
                    <c:v>Gas/10</c:v>
                  </c:pt>
                  <c:pt idx="2">
                    <c:v>PD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20.5</c:v>
                </c:pt>
                <c:pt idx="1">
                  <c:v>32.5</c:v>
                </c:pt>
                <c:pt idx="2">
                  <c:v>51.8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D94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Moisture</c:v>
                  </c:pt>
                  <c:pt idx="1">
                    <c:v>Gas/10</c:v>
                  </c:pt>
                  <c:pt idx="2">
                    <c:v>PD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29.6</c:v>
                </c:pt>
                <c:pt idx="1">
                  <c:v>44.6</c:v>
                </c:pt>
                <c:pt idx="2">
                  <c:v>75.7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D9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Vib</c:v>
                  </c:pt>
                  <c:pt idx="1">
                    <c:v>Load%</c:v>
                  </c:pt>
                  <c:pt idx="2">
                    <c:v>OilLvl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2.39</c:v>
                </c:pt>
                <c:pt idx="1">
                  <c:v>51.6</c:v>
                </c:pt>
                <c:pt idx="2">
                  <c:v>96.1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Vib</c:v>
                  </c:pt>
                  <c:pt idx="1">
                    <c:v>Load%</c:v>
                  </c:pt>
                  <c:pt idx="2">
                    <c:v>OilLvl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3.19</c:v>
                </c:pt>
                <c:pt idx="1">
                  <c:v>73.4</c:v>
                </c:pt>
                <c:pt idx="2">
                  <c:v>93.8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D94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Vib</c:v>
                  </c:pt>
                  <c:pt idx="1">
                    <c:v>Load%</c:v>
                  </c:pt>
                  <c:pt idx="2">
                    <c:v>OilLvl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4.2</c:v>
                </c:pt>
                <c:pt idx="1">
                  <c:v>75.7</c:v>
                </c:pt>
                <c:pt idx="2">
                  <c:v>89.4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E3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Dissolved Gas</c:v>
                  </c:pt>
                  <c:pt idx="1">
                    <c:v>Vibration</c:v>
                  </c:pt>
                  <c:pt idx="2">
                    <c:v>Partial Disc.</c:v>
                  </c:pt>
                  <c:pt idx="3">
                    <c:v>Oil Temp</c:v>
                  </c:pt>
                  <c:pt idx="4">
                    <c:v>Winding Temp</c:v>
                  </c:pt>
                  <c:pt idx="5">
                    <c:v>Age</c:v>
                  </c:pt>
                  <c:pt idx="6">
                    <c:v>Moisture</c:v>
                  </c:pt>
                  <c:pt idx="7">
                    <c:v>Load/Current</c:v>
                  </c:pt>
                  <c:pt idx="8">
                    <c:v>Oil Level*</c:v>
                  </c:pt>
                  <c:pt idx="9">
                    <c:v>Ambient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0.83</c:v>
                </c:pt>
                <c:pt idx="1">
                  <c:v>0.82</c:v>
                </c:pt>
                <c:pt idx="2">
                  <c:v>0.82</c:v>
                </c:pt>
                <c:pt idx="3">
                  <c:v>0.75</c:v>
                </c:pt>
                <c:pt idx="4">
                  <c:v>0.73</c:v>
                </c:pt>
                <c:pt idx="5">
                  <c:v>0.7</c:v>
                </c:pt>
                <c:pt idx="6">
                  <c:v>0.7</c:v>
                </c:pt>
                <c:pt idx="7">
                  <c:v>0.48</c:v>
                </c:pt>
                <c:pt idx="8">
                  <c:v>0.65</c:v>
                </c:pt>
                <c:pt idx="9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D944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Critical</c:v>
                  </c:pt>
                  <c:pt idx="1">
                    <c:v>Healthy</c:v>
                  </c:pt>
                  <c:pt idx="2">
                    <c:v>Warning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</c:v>
                </c:pt>
                <c:pt idx="1">
                  <c:v>1</c:v>
                </c:pt>
                <c:pt idx="2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D9B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Critical</c:v>
                  </c:pt>
                  <c:pt idx="1">
                    <c:v>Healthy</c:v>
                  </c:pt>
                  <c:pt idx="2">
                    <c:v>Warning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</c:v>
                </c:pt>
                <c:pt idx="1">
                  <c:v>0.97</c:v>
                </c:pt>
                <c:pt idx="2">
                  <c:v>0.98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Critical</c:v>
                  </c:pt>
                  <c:pt idx="1">
                    <c:v>Healthy</c:v>
                  </c:pt>
                  <c:pt idx="2">
                    <c:v>Warning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0.95</c:v>
                </c:pt>
                <c:pt idx="1">
                  <c:v>0.99</c:v>
                </c:pt>
                <c:pt idx="2">
                  <c:v>0.96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E3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TRANSFORMER HEALTH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Condition-Monitoring Dataset — Statistical 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606040"/>
            <a:ext cx="27432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  ·  15 fields  ·  11 kV fleet  ·  Ages 2–30 years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 |  Distributions  |  Correlations  |  Model Metrics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 + 1H at a glance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transformer sensor readings + Health label (Healthy / Warning / Critical)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772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Utilities, industry, renewables, rail traction — reliability teams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777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7772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substations &amp; industrial step-down transformers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0604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snapshot · units aged 2–30 years · mixed fleet condition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6060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606040"/>
            <a:ext cx="2743200" cy="73152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before failure · condition-based overhaul planning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6060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606040"/>
            <a:ext cx="274320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3640" y="3246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 · DGA · vibration · PD sensors → Random Forest (96.8% accuracy)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DISTRIBUTION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 split — 500 transformers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68580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777240"/>
            <a:ext cx="393192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777240"/>
            <a:ext cx="91440" cy="1024128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850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fleet  ·  Avg age 8.3 yrs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920240"/>
            <a:ext cx="393192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920240"/>
            <a:ext cx="91440" cy="10241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1993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 of fleet  ·  Avg age 14.0 yrs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393192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063240"/>
            <a:ext cx="91440" cy="1024128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3232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of fleet  ·  Avg age 25.4 yrs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COMPARISON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values by health status — clear separation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77724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INDICATORS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· Dielectric · Mechanical — group averages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(°C)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00584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91840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200400" y="100584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&amp; Load</a:t>
            </a:r>
            <a:endParaRPr lang="en-US" sz="12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6126480" y="100584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HEALTH DECLINE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absolute correlation coefficient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77724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PERFORMANCE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accuracy · 125-unit held-out test 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108960" y="777240"/>
          <a:ext cx="56692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 (model weight)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51760" y="3108960"/>
            <a:ext cx="5669280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0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Winding Temp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651760" y="3429000"/>
            <a:ext cx="5411585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4"/>
          <p:cNvSpPr/>
          <p:nvPr/>
        </p:nvSpPr>
        <p:spPr>
          <a:xfrm>
            <a:off x="8154785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Gas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651760" y="3749040"/>
            <a:ext cx="5153891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7"/>
          <p:cNvSpPr/>
          <p:nvPr/>
        </p:nvSpPr>
        <p:spPr>
          <a:xfrm>
            <a:off x="7897091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Discharge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51760" y="4069080"/>
            <a:ext cx="3607724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0"/>
          <p:cNvSpPr/>
          <p:nvPr/>
        </p:nvSpPr>
        <p:spPr>
          <a:xfrm>
            <a:off x="6350924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343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+ Age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651760" y="4389120"/>
            <a:ext cx="3350029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3"/>
          <p:cNvSpPr/>
          <p:nvPr/>
        </p:nvSpPr>
        <p:spPr>
          <a:xfrm>
            <a:off x="6093229" y="4343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Other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651760" y="4709160"/>
            <a:ext cx="2576945" cy="182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6"/>
          <p:cNvSpPr/>
          <p:nvPr/>
        </p:nvSpPr>
        <p:spPr>
          <a:xfrm>
            <a:off x="5320145" y="4663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EXAMPLES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IDs by health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2788920" cy="457200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122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41732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41732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92024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92024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42316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42316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292608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T0085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42900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T0213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429000"/>
            <a:ext cx="822960" cy="365760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T0287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777240"/>
            <a:ext cx="278892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777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·  223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37560" y="141732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141732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141732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192024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06240" y="192024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192024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242316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06240" y="242316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242316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292608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06240" y="292608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74920" y="292608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37560" y="342900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06240" y="342900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74920" y="3429000"/>
            <a:ext cx="822960" cy="36576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T0066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8076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777240"/>
            <a:ext cx="2788920" cy="45720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777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 ·  155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217920" y="141732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86600" y="141732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955280" y="141732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17920" y="192024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86600" y="192024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955280" y="192024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T0025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17920" y="242316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86600" y="242316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955280" y="242316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17920" y="292608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86600" y="292608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T0035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955280" y="292608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T0043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17920" y="342900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086600" y="342900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T0056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955280" y="3429000"/>
            <a:ext cx="822960" cy="36576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T0068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SUMMARY STATISTICS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 Dev · Range across 500 units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(Years)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Temp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Winding Temp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Level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(ppm)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Dissolved Gas (ppm)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(mm/s)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Discharge (pC)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Statistical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&amp; ACTIONS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 to do next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2057400" cy="64008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(Dissolved Gas)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7772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777240"/>
            <a:ext cx="20574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test)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777240"/>
            <a:ext cx="2057400" cy="64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already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Critical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7772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777240"/>
            <a:ext cx="205740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drivers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Vib · PD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56032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063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Prioritise units with rising Dissolved Gas or Partial Discharge  →  e.g. T0023, T0085, T0213, T0287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Investigate high vibration promptly — strongest single predictor of mechanical issues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Cross-check falling oil level + rising moisture for possible seal leaks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 model as triage layer; add gas-by-gas DGA and trend rates for production use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cleanly separates health tiers.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automates classification at 96.8% accuracy.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maintenance on gas, vibration and PD trends.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2860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Transformer Health — Statistical Analysis</dc:title>
  <dc:subject>PptxGenJS Presentation</dc:subject>
  <dc:creator>Senior Electrical Design Engineering</dc:creator>
  <cp:lastModifiedBy>Senior Electrical Design Engineering</cp:lastModifiedBy>
  <cp:revision>1</cp:revision>
  <dcterms:created xsi:type="dcterms:W3CDTF">2026-07-30T10:22:22Z</dcterms:created>
  <dcterms:modified xsi:type="dcterms:W3CDTF">2026-07-30T10:22:22Z</dcterms:modified>
</cp:coreProperties>
</file>