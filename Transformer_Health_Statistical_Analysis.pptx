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Health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9B6E"/>
              </a:solidFill>
              <a:effectLst/>
            </c:spPr>
          </c:dPt>
          <c:dPt>
            <c:idx val="1"/>
            <c:bubble3D val="0"/>
            <c:spPr>
              <a:solidFill>
                <a:srgbClr val="E8A838"/>
              </a:solidFill>
              <a:effectLst/>
            </c:spPr>
          </c:dPt>
          <c:dPt>
            <c:idx val="2"/>
            <c:bubble3D val="0"/>
            <c:spPr>
              <a:solidFill>
                <a:srgbClr val="D9445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Healthy (31%)</c:v>
                </c:pt>
                <c:pt idx="1">
                  <c:v>Warning (44.6%)</c:v>
                </c:pt>
                <c:pt idx="2">
                  <c:v>Critical (24.4%)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155</c:v>
                </c:pt>
                <c:pt idx="1">
                  <c:v>223</c:v>
                </c:pt>
                <c:pt idx="2">
                  <c:v>122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E3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4F7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6916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TRANSFORMER HEALTH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2148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Condition-Monitoring Dataset — Statistical Analysis Report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2606040"/>
            <a:ext cx="292608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records  ·  15 fields  ·  11 kV distribution-class fleet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32461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Electrical Design Engineering Review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4206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 |  Asset Health Scoring  |  DGA · Thermal · Mechanical Indicators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Analytics  |  Engineering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5W + 1H — Framing the Transformer Health Analysis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77240"/>
            <a:ext cx="64008" cy="173736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941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0352" y="128016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500-record condition-monitoring telemetry for 11 kV distribution transformers: electrical, thermal, mechanical &amp; dielectric sensors + Health_Status label (Healthy / Warning / Critical).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7772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777240"/>
            <a:ext cx="64008" cy="173736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91440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94760" y="941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10712" y="128016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utilities, industrial plants (steel, cement, data centers), renewable energy sites, railway traction substations — asset managers &amp; reliability engineers.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7772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777240"/>
            <a:ext cx="64008" cy="173736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1440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75120" y="941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91072" y="128016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sub-transmission substations; dedicated step-down transformers in industrial facilities; wind/solar step-up transformers.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5760" y="26517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5760" y="2651760"/>
            <a:ext cx="64008" cy="1737360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8892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" y="2816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30352" y="315468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dataset (one reading per unit). Ages 2–30 years. Reflects an aging, mixed-condition fleet suitable for model training &amp; triage prioritization.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246120" y="26517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246120" y="2651760"/>
            <a:ext cx="64008" cy="1737360"/>
          </a:xfrm>
          <a:prstGeom prst="rect">
            <a:avLst/>
          </a:prstGeom>
          <a:solidFill>
            <a:srgbClr val="2D9B6E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788920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794760" y="2816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3410712" y="315468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predictive maintenance: detect insulation degradation, thermal stress &amp; mechanical issues before catastrophic failure; shift from time-based to condition-based maintenance.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6126480" y="26517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126480" y="2651760"/>
            <a:ext cx="64008" cy="1737360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788920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675120" y="2816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6291072" y="315468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sensors (RTDs, DGA, vibration, PD) feed a health-scoring platform. Random Forest (96.8% accuracy) reproduces labels from 11 numeric sensors + cooling status.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transformer_health_dataset_500_records.csv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STRUCTURE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fields · 500 transformers (T0001–T0500) · mixed ages 2–30 years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8463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77240"/>
            <a:ext cx="73152" cy="5303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82296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332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Transformer_ID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71600"/>
            <a:ext cx="48463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371600"/>
            <a:ext cx="73152" cy="53035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173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62763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Temp · Winding Temp · Ambient Temp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48463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965960"/>
            <a:ext cx="73152" cy="5303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0116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/ Load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2219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(11 kV) · Current · Load 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60320"/>
            <a:ext cx="48463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560320"/>
            <a:ext cx="73152" cy="530352"/>
          </a:xfrm>
          <a:prstGeom prst="rect">
            <a:avLst/>
          </a:prstGeom>
          <a:solidFill>
            <a:srgbClr val="D9445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6060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Insulation / Dielectric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8163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ppm · Dissolved Gas ppm · PD pC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154680"/>
            <a:ext cx="48463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154680"/>
            <a:ext cx="73152" cy="530352"/>
          </a:xfrm>
          <a:prstGeom prst="rect">
            <a:avLst/>
          </a:prstGeom>
          <a:solidFill>
            <a:srgbClr val="4A5C6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20040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/ Integrity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4107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mm/s · Oil Level 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749040"/>
            <a:ext cx="48463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749040"/>
            <a:ext cx="73152" cy="530352"/>
          </a:xfrm>
          <a:prstGeom prst="rect">
            <a:avLst/>
          </a:prstGeom>
          <a:solidFill>
            <a:srgbClr val="2D9B6E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79476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/ Target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0050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Status · Health_Status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0" y="777240"/>
            <a:ext cx="32004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577840" y="886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577840" y="12527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0" y="1691640"/>
            <a:ext cx="32004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577840" y="1801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577840" y="21671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0" y="2606040"/>
            <a:ext cx="32004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77840" y="2715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kV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577840" y="30815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Class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0" y="3520440"/>
            <a:ext cx="32004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577840" y="3630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2–30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5577840" y="39959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 (yrs)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Analytics  |  Engineering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HEALTH DISTRIBUTION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1 in 4 units Critical; almost half in Warning — aging fleet profile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731520"/>
          <a:ext cx="43891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937760" y="777240"/>
            <a:ext cx="374904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37760" y="777240"/>
            <a:ext cx="91440" cy="1024128"/>
          </a:xfrm>
          <a:prstGeom prst="rect">
            <a:avLst/>
          </a:prstGeom>
          <a:solidFill>
            <a:srgbClr val="2D9B6E"/>
          </a:solidFill>
          <a:ln/>
        </p:spPr>
      </p:sp>
      <p:sp>
        <p:nvSpPr>
          <p:cNvPr id="10" name="Text 7"/>
          <p:cNvSpPr/>
          <p:nvPr/>
        </p:nvSpPr>
        <p:spPr>
          <a:xfrm>
            <a:off x="5212080" y="886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0" y="868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212080" y="1188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31.0% of fleet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12080" y="1435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 8.3 yrs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37760" y="1920240"/>
            <a:ext cx="374904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937760" y="1920240"/>
            <a:ext cx="91440" cy="102412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6" name="Text 13"/>
          <p:cNvSpPr/>
          <p:nvPr/>
        </p:nvSpPr>
        <p:spPr>
          <a:xfrm>
            <a:off x="5212080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1520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212080" y="2331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44.6% of fleet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12080" y="2578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 14.0 yrs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937760" y="3063240"/>
            <a:ext cx="374904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937760" y="3063240"/>
            <a:ext cx="91440" cy="1024128"/>
          </a:xfrm>
          <a:prstGeom prst="rect">
            <a:avLst/>
          </a:prstGeom>
          <a:solidFill>
            <a:srgbClr val="D94452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0" y="3172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315200" y="3154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212080" y="3474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 of fleet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212080" y="3721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 25.4 yrs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Analytics  |  Engineering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summary — values consistent with 11 kV distribution transformers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3749040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  <a:gridCol w="1325880"/>
                <a:gridCol w="1325880"/>
                <a:gridCol w="1325880"/>
              </a:tblGrid>
              <a:tr h="312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(Years)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Temperature (°C)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Winding Temperature (°C)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 Temperature (°C)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(A)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457.3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Level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Moisture (ppm)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Dissolved Gas (ppm)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 (mm/s)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Discharge (pC)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Analytics  |  Engineering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BEHAVIOR BY HEALTH STATUS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 stress indicator rises monotonically: Healthy → Warning → Critical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36576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71600"/>
                <a:gridCol w="1371600"/>
                <a:gridCol w="1920240"/>
              </a:tblGrid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44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(yrs)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Temp (°C)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Winding Temp (°C)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(A)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Level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Falls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Moisture (ppm)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Dissolved Gas (ppm)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325.1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 (mm/s)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Discharge (pC)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Analytics  |  Engineering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HEALTH DECLINE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Dissolved gas, vibration &amp; partial discharge dominate (r ≥ 0.82)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77240"/>
            <a:ext cx="73152" cy="640080"/>
          </a:xfrm>
          <a:prstGeom prst="rect">
            <a:avLst/>
          </a:prstGeom>
          <a:solidFill>
            <a:srgbClr val="D9445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868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Dissolved Gas (ppm)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124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914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1490472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490472"/>
            <a:ext cx="73152" cy="640080"/>
          </a:xfrm>
          <a:prstGeom prst="rect">
            <a:avLst/>
          </a:prstGeom>
          <a:solidFill>
            <a:srgbClr val="D9445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581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(mm/s)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18379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08960" y="16276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5760" y="2203704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203704"/>
            <a:ext cx="73152" cy="640080"/>
          </a:xfrm>
          <a:prstGeom prst="rect">
            <a:avLst/>
          </a:prstGeom>
          <a:solidFill>
            <a:srgbClr val="D9445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2951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Discharge (pC)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5511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08960" y="23408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65760" y="2916936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916936"/>
            <a:ext cx="73152" cy="6400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0083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Temperature (°C)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2644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08960" y="30540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65760" y="3630168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630168"/>
            <a:ext cx="73152" cy="6400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721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Winding Temperature (°C)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39776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108960" y="37673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+0.73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754880" y="777240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777240"/>
            <a:ext cx="73152" cy="6400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868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(Years)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1124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914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754880" y="1490472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1490472"/>
            <a:ext cx="73152" cy="6400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1581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(ppm)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37760" y="18379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98080" y="16276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+0.70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754880" y="2203704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2203704"/>
            <a:ext cx="73152" cy="6400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4" name="Text 42"/>
          <p:cNvSpPr/>
          <p:nvPr/>
        </p:nvSpPr>
        <p:spPr>
          <a:xfrm>
            <a:off x="4937760" y="22951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% / Current (A)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937760" y="25511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498080" y="23408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+0.48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4754880" y="2916936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2916936"/>
            <a:ext cx="73152" cy="640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9" name="Text 47"/>
          <p:cNvSpPr/>
          <p:nvPr/>
        </p:nvSpPr>
        <p:spPr>
          <a:xfrm>
            <a:off x="4937760" y="30083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Level (%)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37760" y="32644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(inverse)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98080" y="30540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−0.65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4754880" y="3630168"/>
            <a:ext cx="41605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54880" y="3630168"/>
            <a:ext cx="73152" cy="640080"/>
          </a:xfrm>
          <a:prstGeom prst="rect">
            <a:avLst/>
          </a:prstGeom>
          <a:solidFill>
            <a:srgbClr val="6B7F82"/>
          </a:solidFill>
          <a:ln/>
        </p:spPr>
      </p:sp>
      <p:sp>
        <p:nvSpPr>
          <p:cNvPr id="54" name="Text 52"/>
          <p:cNvSpPr/>
          <p:nvPr/>
        </p:nvSpPr>
        <p:spPr>
          <a:xfrm>
            <a:off x="4937760" y="3721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Temperature (°C)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937760" y="39776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498080" y="37673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Analytics  |  Engineering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 — RANDOM FOREST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 accuracy on held-out test set (125 transformers) — only adjacent-tier errors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77240"/>
            <a:ext cx="2743200" cy="73152"/>
          </a:xfrm>
          <a:prstGeom prst="rect">
            <a:avLst/>
          </a:prstGeom>
          <a:solidFill>
            <a:srgbClr val="D9445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234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30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1600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1920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1920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2240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2240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46120" y="777240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777240"/>
            <a:ext cx="2743200" cy="73152"/>
          </a:xfrm>
          <a:prstGeom prst="rect">
            <a:avLst/>
          </a:prstGeom>
          <a:solidFill>
            <a:srgbClr val="2D9B6E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46120" y="1234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39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1600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1600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1920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1920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29000" y="2240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2240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26480" y="777240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777240"/>
            <a:ext cx="274320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26480" y="1234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56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1600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89520" y="1600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9360" y="1920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89520" y="1920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09360" y="2240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89520" y="2240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65760" y="297180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2971800"/>
            <a:ext cx="73152" cy="13716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30632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 &amp; Key Observations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94360" y="338328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Forest: 300 trees, max depth 8 · 75/25 stratified train/test split · 11 numeric sensors + encoded Cooling_Status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accuracy 96.8% — only 4 of 125 misclassified; all errors were to adjacent severity tier (no Healthy↔Critical swaps)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Dominant features: Vibration, Oil/Winding Temperature, Dissolved Gas (~2/3 of decision weight) — aligns with known fault mechanisms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Analytics  |  Engineering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IDENTIFIERS BY HEALTH STATUS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Transformer IDs — triage examples from the 500-unit fleet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27889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77240"/>
            <a:ext cx="2788920" cy="411480"/>
          </a:xfrm>
          <a:prstGeom prst="rect">
            <a:avLst/>
          </a:prstGeom>
          <a:solidFill>
            <a:srgbClr val="D9445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7772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(122)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attention required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T0006   T0007   T0011   T0015   T0016   T0017   T0021   T0023   T0027   T0028   T0042   T0085   T0113   T0213   T0287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777240"/>
            <a:ext cx="27889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777240"/>
            <a:ext cx="2788920" cy="4114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7772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 (223)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12801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risk — schedule inspection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160020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T0001   T0002   T0005   T0008   T0009   T0010   T0012   T0018   T0019   T0020   T0024   T0036   T0044   T0052   T0066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777240"/>
            <a:ext cx="27889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777240"/>
            <a:ext cx="2788920" cy="411480"/>
          </a:xfrm>
          <a:prstGeom prst="rect">
            <a:avLst/>
          </a:prstGeom>
          <a:solidFill>
            <a:srgbClr val="2D9B6E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7772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 (155)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2801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normal operating envelope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160020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T0003   T0004   T0013   T0014   T0022   T0025   T0030   T0032   T0033   T0034   T0035   T0043   T0051   T0056   T0068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Analytics  |  Engineering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signals map cleanly onto established transformer failure mechanisms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9144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Health Score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2344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Health_Status is driven primarily by dissolved gas, vibration, and partial discharge — the three classic incipient-fault indicators in transformer diagnostics.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9144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068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Strong but Not Dominant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2344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units average 25.4 yrs vs 8.3 yrs for Healthy, yet some older units remain Healthy — maintenance history and loading matter more than age alone.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1031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Has Diminishing Marginal Signal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4231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and Critical units carry nearly identical average load (73–76%). Thermal and dielectric indicators separate the two worst tiers, not load alone.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1031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068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Level is the Inverse Indicator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4231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parameter that falls with worsening health (96% → 89%), consistent with gasket/seal degradation on older, more stressed units.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154680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2918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156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Status is Reactive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6118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Fan/pump running vs Normal has only 0.4% feature importance — active cooling engages with load, not as a leading health indicator.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154680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32918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4068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Model Separability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36118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reaches 96.8% accuracy; sensor set is sufficient for automated real-time health-scoring dashboards and alarm systems.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Analytics  |  Engineering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prioritization and production-deployment guidance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11480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77240"/>
            <a:ext cx="411480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777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PRIORITIZATION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32588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rising Dissolved Gas or PD trends over pure load or ambient flags.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vibration anomalies promptly — strongest single predictor; often signals core/winding looseness.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moisture-in-oil with oil level: falling oil + rising moisture may indicate seal leak and moisture ingress.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Critical-tier units (e.g. T0023, T0085, T0213, T0287) as highest priority for outage planning.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411480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777240"/>
            <a:ext cx="4114800" cy="4114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777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32588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laboratory DGA results before automated alarms — online sensors are typically less precise than lab DGA.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gas-by-gas breakdown (H₂, CH₄, C₂H₂, C₂H₄, C₂H₆, CO, CO₂) to distinguish thermal vs electrical vs arcing faults.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rate-of-change (ppm/month) — stronger early-warning signal than absolute snapshot levels.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model as triage layer; retain engineering judgment for final maintenance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Analytics  |  Engineering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suite is sufficient for automated health scoring; trend data remains the key gap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60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77724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960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Correlation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(Dissolved Gas)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77724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960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State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82296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77440"/>
            <a:ext cx="73152" cy="1920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56032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is well-structured for predictive-maintenance analytics on a distribution transformer fleet. The health label is statistically well explained by thermal, dielectric, and mechanical sensor readings — consistent with established transformer failure mechanisms. A Random Forest classifier reproduces labeling at 96.8% accuracy, confirming the sensor set supports automated health-scoring. The principal limitation for real-world deployment is the absence of time-series trend data and validated laboratory DGA cross-checks. On a single-snapshot basis, the data supports strong triage-level decision-making for maintenance prioritization.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Transformer Health Condition-Monitoring — Statistical Analysis</dc:title>
  <dc:subject>PptxGenJS Presentation</dc:subject>
  <dc:creator>Senior Electrical Design Engineering</dc:creator>
  <cp:lastModifiedBy>Senior Electrical Design Engineering</cp:lastModifiedBy>
  <cp:revision>1</cp:revision>
  <dcterms:created xsi:type="dcterms:W3CDTF">2026-07-30T10:10:05Z</dcterms:created>
  <dcterms:modified xsi:type="dcterms:W3CDTF">2026-07-30T10:10:05Z</dcterms:modified>
</cp:coreProperties>
</file>